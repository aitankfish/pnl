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1371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274320" cy="27432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0" y="5029200"/>
            <a:ext cx="274320" cy="27432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1371600"/>
            <a:ext cx="274320" cy="27432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3657600"/>
            <a:ext cx="274320" cy="27432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114800"/>
            <a:ext cx="274320" cy="27432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486400"/>
            <a:ext cx="274320" cy="27432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E5FF"/>
                </a:solidFill>
                <a:latin typeface="Calibri"/>
              </a:defRPr>
            </a:pPr>
            <a:r>
              <a:t>PNL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Predict &amp;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2A5F5"/>
                </a:solidFill>
                <a:latin typeface="Calibri"/>
              </a:defRPr>
            </a:pPr>
            <a:r>
              <a:t>The FishTank Where Ideas Swim or Sink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572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Solana-Powered Prediction Market for Token Launches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90CAF9"/>
                </a:solidFill>
                <a:latin typeface="Calibri"/>
              </a:defRPr>
            </a:pPr>
            <a:r>
              <a:t>A decentralized platform where the community decides which projects deserve to launch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Calibri"/>
              </a:defRPr>
            </a:pPr>
            <a:r>
              <a:t>The Story: A Fish With a Dream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3474720" cy="47548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200400" cy="4389120"/>
          </a:xfrm>
          <a:prstGeom prst="roundRect">
            <a:avLst/>
          </a:prstGeom>
          <a:solidFill>
            <a:srgbClr val="0D477A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2A5F5"/>
                </a:solidFill>
                <a:latin typeface="Calibri"/>
              </a:defRPr>
            </a:pPr>
            <a:r>
              <a:t>THE RIVER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926080"/>
            <a:ext cx="731520" cy="73152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FISH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286000"/>
            <a:ext cx="11887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I have</a:t>
            </a:r>
            <a:br/>
            <a:r>
              <a:t>an idea!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 small fish in a quiet river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has a project idea...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90CAF9"/>
                </a:solidFill>
                <a:latin typeface="Calibri"/>
              </a:defRPr>
            </a:pPr>
            <a:r>
              <a:t>But the river is small.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90CAF9"/>
                </a:solidFill>
                <a:latin typeface="Calibri"/>
              </a:defRPr>
            </a:pPr>
            <a:r>
              <a:t>No audience. No funding.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90CAF9"/>
                </a:solidFill>
                <a:latin typeface="Calibri"/>
              </a:defRPr>
            </a:pPr>
            <a:r>
              <a:t>No way to prove the idea.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14800" y="3017520"/>
            <a:ext cx="1097280" cy="548640"/>
          </a:xfrm>
          <a:prstGeom prst="right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4960" y="1371600"/>
            <a:ext cx="3474720" cy="4754880"/>
          </a:xfrm>
          <a:prstGeom prst="roundRect">
            <a:avLst/>
          </a:prstGeom>
          <a:solidFill>
            <a:srgbClr val="0A2750"/>
          </a:solidFill>
          <a:ln w="381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THE FISHTANK (PNL)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0" y="2560320"/>
            <a:ext cx="457200" cy="45720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3474720"/>
            <a:ext cx="457200" cy="45720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0" y="4114800"/>
            <a:ext cx="457200" cy="45720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2377440"/>
            <a:ext cx="457200" cy="45720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0" y="2194560"/>
            <a:ext cx="457200" cy="45720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3840480"/>
            <a:ext cx="457200" cy="45720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4389120"/>
            <a:ext cx="457200" cy="45720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926080"/>
            <a:ext cx="548640" cy="548640"/>
          </a:xfrm>
          <a:prstGeom prst="ellipse">
            <a:avLst/>
          </a:prstGeom>
          <a:solidFill>
            <a:srgbClr val="FFD600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IDEA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8463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Fish enters the tank!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Supporters &amp; predators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vote on the idea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144000" y="3017520"/>
            <a:ext cx="1097280" cy="54864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32720" y="1371600"/>
            <a:ext cx="1554480" cy="4754880"/>
          </a:xfrm>
          <a:prstGeom prst="roundRect">
            <a:avLst/>
          </a:prstGeom>
          <a:solidFill>
            <a:srgbClr val="01579B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600"/>
                </a:solidFill>
                <a:latin typeface="Calibri"/>
              </a:defRPr>
            </a:pPr>
            <a:r>
              <a:t>THE OCEAN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0" y="2743200"/>
            <a:ext cx="1097280" cy="109728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WHALE</a:t>
            </a:r>
            <a:br/>
            <a:r>
              <a:t>(Launched!)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41148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00C853"/>
                </a:solidFill>
                <a:latin typeface="Calibri"/>
              </a:defRPr>
            </a:pPr>
            <a:r>
              <a:t>If approved: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Fish becomes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D600"/>
                </a:solidFill>
                <a:latin typeface="Calibri"/>
              </a:defRPr>
            </a:pPr>
            <a:r>
              <a:t>a WHALE!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Token launches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174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1A2340"/>
          </a:solidFill>
          <a:ln w="2540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1744"/>
                </a:solidFill>
                <a:latin typeface="Calibri"/>
              </a:defRPr>
            </a:pPr>
            <a:r>
              <a:t>For Project Creators (The Fish)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 way to validate ideas before investing time &amp; money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Launching blind — 95% of token launches fail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 community feedback before launch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Rug pulls destroyed trust in new projects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FFD600"/>
                </a:solidFill>
                <a:latin typeface="Calibri"/>
              </a:defRPr>
            </a:pPr>
            <a:r>
              <a:t>Result: Great ideas die in the river,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FFD600"/>
                </a:solidFill>
                <a:latin typeface="Calibri"/>
              </a:defRPr>
            </a:pPr>
            <a:r>
              <a:t>bad ones flood the ocean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846320"/>
          </a:xfrm>
          <a:prstGeom prst="roundRect">
            <a:avLst/>
          </a:prstGeom>
          <a:solidFill>
            <a:srgbClr val="1A2340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A5F5"/>
                </a:solidFill>
                <a:latin typeface="Calibri"/>
              </a:defRPr>
            </a:pPr>
            <a:r>
              <a:t>For Community (The School of Fish)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 voice in what gets launched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Can't earn from early project discovery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Scams &amp; low-effort projects waste time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 skin-in-the-game prediction mechanism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FFD600"/>
                </a:solidFill>
                <a:latin typeface="Calibri"/>
              </a:defRPr>
            </a:pPr>
            <a:r>
              <a:t>Result: Community has no power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FFD600"/>
                </a:solidFill>
                <a:latin typeface="Calibri"/>
              </a:defRPr>
            </a:pPr>
            <a:r>
              <a:t>to filter signal from noise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Calibri"/>
              </a:defRPr>
            </a:pPr>
            <a:r>
              <a:t>How The FishTank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560320" cy="5029200"/>
          </a:xfrm>
          <a:prstGeom prst="roundRect">
            <a:avLst/>
          </a:prstGeom>
          <a:solidFill>
            <a:srgbClr val="0F1F3D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63039" y="1280160"/>
            <a:ext cx="548640" cy="54864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853"/>
                </a:solidFill>
                <a:latin typeface="Calibri"/>
              </a:defRPr>
            </a:pPr>
            <a:r>
              <a:t>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Fish fills the form</a:t>
            </a:r>
            <a:br/>
            <a:br/>
            <a:r>
              <a:t>Project name, description,</a:t>
            </a:r>
            <a:br/>
            <a:r>
              <a:t>token symbol, category,</a:t>
            </a:r>
            <a:br/>
            <a:r>
              <a:t>target pool, team info,</a:t>
            </a:r>
            <a:br/>
            <a:r>
              <a:t>social links, pitch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53"/>
                </a:solidFill>
                <a:latin typeface="Calibri"/>
              </a:defRPr>
            </a:pPr>
            <a:r>
              <a:t>Creator submits</a:t>
            </a:r>
            <a:br/>
            <a:r>
              <a:t>project to the tank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17520" y="3200400"/>
            <a:ext cx="274320" cy="274320"/>
          </a:xfrm>
          <a:prstGeom prst="rightArrow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1097280"/>
            <a:ext cx="2560320" cy="5029200"/>
          </a:xfrm>
          <a:prstGeom prst="roundRect">
            <a:avLst/>
          </a:prstGeom>
          <a:solidFill>
            <a:srgbClr val="0F1F3D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51959" y="1280160"/>
            <a:ext cx="548640" cy="54864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202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2A5F5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School of fish votes</a:t>
            </a:r>
            <a:br/>
            <a:br/>
            <a:r>
              <a:t>YES = Support the idea</a:t>
            </a:r>
            <a:br/>
            <a:r>
              <a:t>NO = Reject it</a:t>
            </a:r>
            <a:br/>
            <a:br/>
            <a:r>
              <a:t>Put SOL behind</a:t>
            </a:r>
            <a:br/>
            <a:r>
              <a:t>your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53035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2A5F5"/>
                </a:solidFill>
                <a:latin typeface="Calibri"/>
              </a:defRPr>
            </a:pPr>
            <a:r>
              <a:t>Community stakes</a:t>
            </a:r>
            <a:br/>
            <a:r>
              <a:t>SOL on outcome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6440" y="3200400"/>
            <a:ext cx="274320" cy="274320"/>
          </a:xfrm>
          <a:prstGeom prst="rightArrow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1097280"/>
            <a:ext cx="2560320" cy="5029200"/>
          </a:xfrm>
          <a:prstGeom prst="roundRect">
            <a:avLst/>
          </a:prstGeom>
          <a:solidFill>
            <a:srgbClr val="0F1F3D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0" y="1280160"/>
            <a:ext cx="548640" cy="54864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19202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600"/>
                </a:solidFill>
                <a:latin typeface="Calibri"/>
              </a:defRPr>
            </a:pPr>
            <a:r>
              <a:t>RESOLVE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Timer expires</a:t>
            </a:r>
            <a:br/>
            <a:br/>
            <a:r>
              <a:t>Market resolves based</a:t>
            </a:r>
            <a:br/>
            <a:r>
              <a:t>on community vote</a:t>
            </a:r>
            <a:br/>
            <a:br/>
            <a:r>
              <a:t>Winning side earns</a:t>
            </a:r>
            <a:br/>
            <a:r>
              <a:t>from losing side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53035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600"/>
                </a:solidFill>
                <a:latin typeface="Calibri"/>
              </a:defRPr>
            </a:pPr>
            <a:r>
              <a:t>Winners collect,</a:t>
            </a:r>
            <a:br/>
            <a:r>
              <a:t>losers learn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95359" y="3200400"/>
            <a:ext cx="274320" cy="27432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23959" y="1097280"/>
            <a:ext cx="2560320" cy="5029200"/>
          </a:xfrm>
          <a:prstGeom prst="roundRect">
            <a:avLst/>
          </a:prstGeom>
          <a:solidFill>
            <a:srgbClr val="0F1F3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29799" y="1280160"/>
            <a:ext cx="548640" cy="5486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399" y="19202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Fish becomes a whale!</a:t>
            </a:r>
            <a:br/>
            <a:br/>
            <a:r>
              <a:t>Approved projects auto-</a:t>
            </a:r>
            <a:br/>
            <a:r>
              <a:t>launch on pump.fun</a:t>
            </a:r>
            <a:br/>
            <a:br/>
            <a:r>
              <a:t>Token goes live</a:t>
            </a:r>
            <a:br/>
            <a:r>
              <a:t>on Solana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399" y="53035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5FF"/>
                </a:solidFill>
                <a:latin typeface="Calibri"/>
              </a:defRPr>
            </a:pPr>
            <a:r>
              <a:t>Token launches</a:t>
            </a:r>
            <a:br/>
            <a:r>
              <a:t>automatically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263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B5F6"/>
                </a:solidFill>
                <a:latin typeface="Calibri"/>
              </a:defRPr>
            </a:pPr>
            <a:r>
              <a:t>[ Screenshots of actual PNL platform: Create Form  |  Market Page  |  Voting Interface  |  Launched Tokens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Calibri"/>
              </a:defRPr>
            </a:pPr>
            <a:r>
              <a:t>Live Platform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Calibri"/>
              </a:defRPr>
            </a:pPr>
            <a:r>
              <a:t>pnl.fun — Built &amp; Deployed on Solana Mainnet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657600" cy="4846320"/>
          </a:xfrm>
          <a:prstGeom prst="roundRect">
            <a:avLst/>
          </a:prstGeom>
          <a:solidFill>
            <a:srgbClr val="152545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356616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Create Project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Fish fills out the form to</a:t>
            </a:r>
            <a:br/>
            <a:r>
              <a:t>enter the tank</a:t>
            </a:r>
            <a:br/>
            <a:br/>
            <a:r>
              <a:t>[ INSERT SCREENSHOT</a:t>
            </a:r>
            <a:br/>
            <a:r>
              <a:t>of /create page ]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64B5F6"/>
                </a:solidFill>
                <a:latin typeface="Calibri"/>
              </a:defRPr>
            </a:pPr>
            <a:r>
              <a:t>Replace this with an actual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64B5F6"/>
                </a:solidFill>
                <a:latin typeface="Calibri"/>
              </a:defRPr>
            </a:pPr>
            <a:r>
              <a:t>screenshot from pnl.fun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657600" cy="4846320"/>
          </a:xfrm>
          <a:prstGeom prst="roundRect">
            <a:avLst/>
          </a:prstGeom>
          <a:solidFill>
            <a:srgbClr val="152545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417320"/>
            <a:ext cx="356616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4447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Market / FishTank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031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Community votes YES or NO</a:t>
            </a:r>
            <a:br/>
            <a:r>
              <a:t>on the project</a:t>
            </a:r>
            <a:br/>
            <a:br/>
            <a:r>
              <a:t>[ INSERT SCREENSHOT</a:t>
            </a:r>
            <a:br/>
            <a:r>
              <a:t>of /market/[id] page ]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64B5F6"/>
                </a:solidFill>
                <a:latin typeface="Calibri"/>
              </a:defRPr>
            </a:pPr>
            <a:r>
              <a:t>Replace this with an actual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64B5F6"/>
                </a:solidFill>
                <a:latin typeface="Calibri"/>
              </a:defRPr>
            </a:pPr>
            <a:r>
              <a:t>screenshot from pnl.fun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657600" cy="4846320"/>
          </a:xfrm>
          <a:prstGeom prst="roundRect">
            <a:avLst/>
          </a:prstGeom>
          <a:solidFill>
            <a:srgbClr val="152545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356616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4447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Launched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Successful fish that became</a:t>
            </a:r>
            <a:br/>
            <a:r>
              <a:t>whales on pump.fun</a:t>
            </a:r>
            <a:br/>
            <a:br/>
            <a:r>
              <a:t>[ INSERT SCREENSHOT</a:t>
            </a:r>
            <a:br/>
            <a:r>
              <a:t>of /launched page ]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64B5F6"/>
                </a:solidFill>
                <a:latin typeface="Calibri"/>
              </a:defRPr>
            </a:pPr>
            <a:r>
              <a:t>Replace this with an actual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64B5F6"/>
                </a:solidFill>
                <a:latin typeface="Calibri"/>
              </a:defRPr>
            </a:pPr>
            <a:r>
              <a:t>screenshot from pnl.fun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  <a:latin typeface="Calibri"/>
              </a:defRPr>
            </a:pPr>
            <a:r>
              <a:t>Business Model Canvas — PNL (Predict &amp; Launch)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2194560" cy="2468880"/>
          </a:xfrm>
          <a:prstGeom prst="rect">
            <a:avLst/>
          </a:prstGeom>
          <a:solidFill>
            <a:srgbClr val="FAFAFF"/>
          </a:solidFill>
          <a:ln w="190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Calibri"/>
              </a:defRPr>
            </a:pPr>
            <a:r>
              <a:t>Key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051560"/>
            <a:ext cx="2057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Solana Foundation</a:t>
            </a:r>
            <a:br/>
            <a:r>
              <a:t>pump.fun (launch partner)</a:t>
            </a:r>
            <a:br/>
            <a:r>
              <a:t>Jupiter (DEX aggregator)</a:t>
            </a:r>
            <a:br/>
            <a:r>
              <a:t>Helius (RPC/WebSocket)</a:t>
            </a:r>
            <a:br/>
            <a:r>
              <a:t>Pinata (IPFS storage)</a:t>
            </a:r>
            <a:br/>
            <a:r>
              <a:t>Privy (Auth)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777240"/>
            <a:ext cx="2194560" cy="1234440"/>
          </a:xfrm>
          <a:prstGeom prst="rect">
            <a:avLst/>
          </a:prstGeom>
          <a:solidFill>
            <a:srgbClr val="FAFAFF"/>
          </a:solidFill>
          <a:ln w="190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42032" y="80467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Calibri"/>
              </a:defRPr>
            </a:pPr>
            <a:r>
              <a:t>Key 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1051560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Platform development</a:t>
            </a:r>
            <a:br/>
            <a:r>
              <a:t>Smart contract audits</a:t>
            </a:r>
            <a:br/>
            <a:r>
              <a:t>Community growth</a:t>
            </a:r>
            <a:br/>
            <a:r>
              <a:t>Market curation</a:t>
            </a:r>
            <a:br/>
            <a:r>
              <a:t>Launch pipeline mgmt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777240"/>
            <a:ext cx="2560320" cy="2468880"/>
          </a:xfrm>
          <a:prstGeom prst="rect">
            <a:avLst/>
          </a:prstGeom>
          <a:solidFill>
            <a:srgbClr val="FAFAFF"/>
          </a:solidFill>
          <a:ln w="190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8046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Calibri"/>
              </a:defRPr>
            </a:pPr>
            <a:r>
              <a:t>Value Propositions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1051560"/>
            <a:ext cx="2423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Community-validated</a:t>
            </a:r>
            <a:br/>
            <a:r>
              <a:t>token launches</a:t>
            </a:r>
            <a:br/>
            <a:br/>
            <a:r>
              <a:t>Earn by predicting right</a:t>
            </a:r>
            <a:br/>
            <a:br/>
            <a:r>
              <a:t>Filter signal from noise</a:t>
            </a:r>
            <a:br/>
            <a:br/>
            <a:r>
              <a:t>Democratized fundraising</a:t>
            </a:r>
            <a:br/>
            <a:r>
              <a:t>via the FishTank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777240"/>
            <a:ext cx="2194560" cy="1234440"/>
          </a:xfrm>
          <a:prstGeom prst="rect">
            <a:avLst/>
          </a:prstGeom>
          <a:solidFill>
            <a:srgbClr val="FAFAFF"/>
          </a:solidFill>
          <a:ln w="190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0467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Calibri"/>
              </a:defRPr>
            </a:pPr>
            <a:r>
              <a:t>Customer 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1051560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Real-time chat rooms</a:t>
            </a:r>
            <a:br/>
            <a:r>
              <a:t>Voice rooms per market</a:t>
            </a:r>
            <a:br/>
            <a:r>
              <a:t>Live activity feeds</a:t>
            </a:r>
            <a:br/>
            <a:r>
              <a:t>Follower/following system</a:t>
            </a:r>
            <a:br/>
            <a:r>
              <a:t>Notifications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777240"/>
            <a:ext cx="2194560" cy="2468880"/>
          </a:xfrm>
          <a:prstGeom prst="rect">
            <a:avLst/>
          </a:prstGeom>
          <a:solidFill>
            <a:srgbClr val="FAFAFF"/>
          </a:solidFill>
          <a:ln w="190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91472" y="80467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Calibri"/>
              </a:defRPr>
            </a:pPr>
            <a:r>
              <a:t>Customer Segments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1472" y="1051560"/>
            <a:ext cx="2057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Crypto project creators</a:t>
            </a:r>
            <a:br/>
            <a:r>
              <a:t>(the Fish)</a:t>
            </a:r>
            <a:br/>
            <a:br/>
            <a:r>
              <a:t>Degen traders/predictors</a:t>
            </a:r>
            <a:br/>
            <a:r>
              <a:t>(the School)</a:t>
            </a:r>
            <a:br/>
            <a:br/>
            <a:r>
              <a:t>Solana ecosystem</a:t>
            </a:r>
            <a:br/>
            <a:r>
              <a:t>builders &amp; investors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011680"/>
            <a:ext cx="2194560" cy="1234440"/>
          </a:xfrm>
          <a:prstGeom prst="rect">
            <a:avLst/>
          </a:prstGeom>
          <a:solidFill>
            <a:srgbClr val="FAFAFF"/>
          </a:solidFill>
          <a:ln w="190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20391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Calibri"/>
              </a:defRPr>
            </a:pPr>
            <a:r>
              <a:t>Key 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2286000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Solana smart contract</a:t>
            </a:r>
            <a:br/>
            <a:r>
              <a:t>Web platform (Next.js)</a:t>
            </a:r>
            <a:br/>
            <a:r>
              <a:t>MongoDB + Redis</a:t>
            </a:r>
            <a:br/>
            <a:r>
              <a:t>Socket.IO real-time</a:t>
            </a:r>
            <a:br/>
            <a:r>
              <a:t>Community of predictors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011680"/>
            <a:ext cx="2194560" cy="1234440"/>
          </a:xfrm>
          <a:prstGeom prst="rect">
            <a:avLst/>
          </a:prstGeom>
          <a:solidFill>
            <a:srgbClr val="FAFAFF"/>
          </a:solidFill>
          <a:ln w="190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96912" y="20391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2286000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pnl.fun (web app)</a:t>
            </a:r>
            <a:br/>
            <a:r>
              <a:t>Twitter/X</a:t>
            </a:r>
            <a:br/>
            <a:r>
              <a:t>Telegram community</a:t>
            </a:r>
            <a:br/>
            <a:r>
              <a:t>Solana ecosystem events</a:t>
            </a:r>
            <a:br/>
            <a:r>
              <a:t>Partner integrations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91840"/>
            <a:ext cx="1170582693120" cy="1463040"/>
          </a:xfrm>
          <a:prstGeom prst="rect">
            <a:avLst/>
          </a:prstGeom>
          <a:solidFill>
            <a:srgbClr val="FAFAFF"/>
          </a:solidFill>
          <a:ln w="190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319272"/>
            <a:ext cx="117058255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Calibri"/>
              </a:defRPr>
            </a:pPr>
            <a:r>
              <a:t>Cost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3566160"/>
            <a:ext cx="1170582555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Cloud hosting (Render, Vercel)</a:t>
            </a:r>
            <a:br/>
            <a:r>
              <a:t>Solana RPC costs (Helius)</a:t>
            </a:r>
            <a:br/>
            <a:r>
              <a:t>Smart contract audits</a:t>
            </a:r>
            <a:br/>
            <a:r>
              <a:t>Team salaries</a:t>
            </a:r>
            <a:br/>
            <a:r>
              <a:t>Marketing &amp; community growth</a:t>
            </a:r>
            <a:br/>
            <a:r>
              <a:t>IPFS storage (Pinata)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70582967440" y="3291840"/>
            <a:ext cx="-1170571354560" cy="1463040"/>
          </a:xfrm>
          <a:prstGeom prst="rect">
            <a:avLst/>
          </a:prstGeom>
          <a:solidFill>
            <a:srgbClr val="FFFDE7"/>
          </a:solidFill>
          <a:ln w="190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583040592" y="3319272"/>
            <a:ext cx="-117057149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5C00"/>
                </a:solidFill>
                <a:latin typeface="Calibri"/>
              </a:defRPr>
            </a:pPr>
            <a:r>
              <a:t>Revenue Streams  (The Fish Waste)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583040592" y="3566160"/>
            <a:ext cx="-117057149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Market creation fees (SOL)</a:t>
            </a:r>
            <a:br/>
            <a:r>
              <a:t>Trading fees on predictions</a:t>
            </a:r>
            <a:br/>
            <a:r>
              <a:t>Token launch fees</a:t>
            </a:r>
            <a:br/>
            <a:r>
              <a:t>Platform cut on market resolution</a:t>
            </a:r>
            <a:br/>
            <a:r>
              <a:t>Merch store revenue (SOL payments)</a:t>
            </a:r>
            <a:br/>
            <a:r>
              <a:t>Premium features (future)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PNL — Predict &amp; Launch  |  pnl.fun  |  Built on Solana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600"/>
                </a:solidFill>
                <a:latin typeface="Calibri"/>
              </a:defRPr>
            </a:pPr>
            <a:r>
              <a:t>Revenue Model: The Fish Waste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When fish are in the water, they excrete waste — that's the fees that power the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651760" cy="4114800"/>
          </a:xfrm>
          <a:prstGeom prst="roundRect">
            <a:avLst/>
          </a:prstGeom>
          <a:solidFill>
            <a:srgbClr val="0F1F3D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  <a:latin typeface="Calibri"/>
              </a:defRPr>
            </a:pPr>
            <a:r>
              <a:t>Market Creation Fee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55448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0.05 SOL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Creators pay SOL to</a:t>
            </a:r>
            <a:br/>
            <a:r>
              <a:t>enter the FishTank</a:t>
            </a:r>
            <a:br/>
            <a:br/>
            <a:r>
              <a:t>Filters spam projects</a:t>
            </a:r>
            <a:br/>
            <a:r>
              <a:t>and funds the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63040"/>
            <a:ext cx="2651760" cy="4114800"/>
          </a:xfrm>
          <a:prstGeom prst="roundRect">
            <a:avLst/>
          </a:prstGeom>
          <a:solidFill>
            <a:srgbClr val="0F1F3D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47A1"/>
                </a:solidFill>
                <a:latin typeface="Calibri"/>
              </a:defRPr>
            </a:pPr>
            <a:r>
              <a:t>Prediction Fees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194560"/>
            <a:ext cx="1554480" cy="4572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2% of stake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8346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Small fee on every</a:t>
            </a:r>
            <a:br/>
            <a:r>
              <a:t>YES/NO prediction</a:t>
            </a:r>
            <a:br/>
            <a:br/>
            <a:r>
              <a:t>Taken from both sides</a:t>
            </a:r>
            <a:br/>
            <a:r>
              <a:t>when market resolves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651760" cy="4114800"/>
          </a:xfrm>
          <a:prstGeom prst="roundRect">
            <a:avLst/>
          </a:prstGeom>
          <a:solidFill>
            <a:srgbClr val="0F1F3D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853"/>
                </a:solidFill>
                <a:latin typeface="Calibri"/>
              </a:defRPr>
            </a:pPr>
            <a:r>
              <a:t>Launch Fee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194560"/>
            <a:ext cx="1554480" cy="4572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1% of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8346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When a fish becomes</a:t>
            </a:r>
            <a:br/>
            <a:r>
              <a:t>a whale (token launches)</a:t>
            </a:r>
            <a:br/>
            <a:br/>
            <a:r>
              <a:t>Platform takes a cut</a:t>
            </a:r>
            <a:br/>
            <a:r>
              <a:t>of the launch pool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463040"/>
            <a:ext cx="2651760" cy="4114800"/>
          </a:xfrm>
          <a:prstGeom prst="roundRect">
            <a:avLst/>
          </a:prstGeom>
          <a:solidFill>
            <a:srgbClr val="0F1F3D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600"/>
                </a:solidFill>
                <a:latin typeface="Calibri"/>
              </a:defRPr>
            </a:pPr>
            <a:r>
              <a:t>Token Ownership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2194560"/>
            <a:ext cx="1554480" cy="4572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Pro-rata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8346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Supporting fish can claim</a:t>
            </a:r>
            <a:br/>
            <a:r>
              <a:t>tokens from launched projects</a:t>
            </a:r>
            <a:br/>
            <a:br/>
            <a:r>
              <a:t>Early backers rewarded</a:t>
            </a:r>
            <a:br/>
            <a:r>
              <a:t>with real token allocation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822960"/>
          </a:xfrm>
          <a:prstGeom prst="roundRect">
            <a:avLst/>
          </a:prstGeom>
          <a:solidFill>
            <a:srgbClr val="1A2340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D600"/>
                </a:solidFill>
                <a:latin typeface="Calibri"/>
              </a:defRPr>
            </a:pPr>
            <a:r>
              <a:t>Revenue flows back to: Platform Treasury (operational costs) + Project Founders (launch funding) + Community (token rewards)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E5FF"/>
                </a:solidFill>
                <a:latin typeface="Calibri"/>
              </a:defRPr>
            </a:pPr>
            <a:r>
              <a:t>Why PNL Wins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743200"/>
          </a:xfrm>
          <a:prstGeom prst="roundRect">
            <a:avLst/>
          </a:prstGeom>
          <a:solidFill>
            <a:srgbClr val="0F1F3D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Calibri"/>
              </a:defRPr>
            </a:pPr>
            <a:r>
              <a:t>What We've Built (Live on Mainnet)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Deployed Solana smart contract (mainnet)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Full-stack web platform at pnl.fun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Real-time chat, voice rooms, live feeds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Jupiter swap integration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pump.fun auto-launch pipeline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Merch store with SOL payments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2743200"/>
          </a:xfrm>
          <a:prstGeom prst="roundRect">
            <a:avLst/>
          </a:prstGeom>
          <a:solidFill>
            <a:srgbClr val="0F1F3D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A5F5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Solana is the #1 chain for launches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pump.fun proved the demand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But no curation layer exists yet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Community wants voice in what launches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Prediction markets are proven (Polymarket)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PNL = Polymarket meets pump.fun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389120"/>
            <a:ext cx="8503920" cy="2103120"/>
          </a:xfrm>
          <a:prstGeom prst="roundRect">
            <a:avLst/>
          </a:prstGeom>
          <a:solidFill>
            <a:srgbClr val="0A2750"/>
          </a:solidFill>
          <a:ln w="381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457200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5FF"/>
                </a:solidFill>
                <a:latin typeface="Calibri"/>
              </a:defRPr>
            </a:pPr>
            <a:r>
              <a:t>The FishTank is Open. Dive 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21208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pnl.fun  |  Built on Solana  |  Live on Mainnet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Every great project deserves a community vote before it swims into the ocean.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B5F6"/>
                </a:solidFill>
                <a:latin typeface="Calibri"/>
              </a:defRPr>
            </a:pPr>
            <a:r>
              <a:t>Thank you!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